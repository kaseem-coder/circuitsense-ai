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Gothic" charset="1" panose="00000500000000000000"/>
      <p:regular r:id="rId14"/>
    </p:embeddedFont>
    <p:embeddedFont>
      <p:font typeface="Lustria" charset="1" panose="02000603060000020004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5051108"/>
            <a:ext cx="2389235" cy="0"/>
          </a:xfrm>
          <a:prstGeom prst="line">
            <a:avLst/>
          </a:prstGeom>
          <a:ln cap="flat" w="133350">
            <a:solidFill>
              <a:srgbClr val="ECC8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145099" y="3650171"/>
            <a:ext cx="5732978" cy="5806884"/>
          </a:xfrm>
          <a:custGeom>
            <a:avLst/>
            <a:gdLst/>
            <a:ahLst/>
            <a:cxnLst/>
            <a:rect r="r" b="b" t="t" l="l"/>
            <a:pathLst>
              <a:path h="5806884" w="5732978">
                <a:moveTo>
                  <a:pt x="0" y="0"/>
                </a:moveTo>
                <a:lnTo>
                  <a:pt x="5732978" y="0"/>
                </a:lnTo>
                <a:lnTo>
                  <a:pt x="5732978" y="5806884"/>
                </a:lnTo>
                <a:lnTo>
                  <a:pt x="0" y="580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9929813" y="1928813"/>
            <a:ext cx="10287000" cy="6429375"/>
          </a:xfrm>
          <a:custGeom>
            <a:avLst/>
            <a:gdLst/>
            <a:ahLst/>
            <a:cxnLst/>
            <a:rect r="r" b="b" t="t" l="l"/>
            <a:pathLst>
              <a:path h="6429375" w="10287000">
                <a:moveTo>
                  <a:pt x="0" y="0"/>
                </a:moveTo>
                <a:lnTo>
                  <a:pt x="10287000" y="0"/>
                </a:lnTo>
                <a:lnTo>
                  <a:pt x="1028700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57300"/>
            <a:ext cx="10829925" cy="379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7"/>
              </a:lnSpc>
            </a:pPr>
            <a:r>
              <a:rPr lang="en-US" sz="14250" spc="2294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CIRCUIT-SENSE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911994"/>
            <a:ext cx="3735293" cy="218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sz="304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Autonomous Multimodal Agent for Hardware Debugging &amp; Safety.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648129"/>
            <a:ext cx="6173559" cy="5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084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 Theme 3: Productivity Platforms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AD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2440" y="3073712"/>
            <a:ext cx="6942686" cy="4139577"/>
          </a:xfrm>
          <a:custGeom>
            <a:avLst/>
            <a:gdLst/>
            <a:ahLst/>
            <a:cxnLst/>
            <a:rect r="r" b="b" t="t" l="l"/>
            <a:pathLst>
              <a:path h="4139577" w="6942686">
                <a:moveTo>
                  <a:pt x="0" y="0"/>
                </a:moveTo>
                <a:lnTo>
                  <a:pt x="6942687" y="0"/>
                </a:lnTo>
                <a:lnTo>
                  <a:pt x="6942687" y="4139576"/>
                </a:lnTo>
                <a:lnTo>
                  <a:pt x="0" y="413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8908" y="571500"/>
            <a:ext cx="178618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$100 BILLION "FRIED CHIP"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5127" y="2043430"/>
            <a:ext cx="10481813" cy="777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Manual Overhead: Engineers spend 60% of time cross-referencing physical breadboards with 500+ page PDF datasheets.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Human Error: One swapped VCC/GND wire leads to instant hardware failure and project delays.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Cognitive Load: No current AI "sees" the physical circuit and "reads" the technical constraints simultaneously.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The real void in the Market is lack of real-time, proactive intervention in hardware prototyping increasing the debugging time and hardware costs.</a:t>
            </a:r>
          </a:p>
          <a:p>
            <a:pPr algn="just">
              <a:lnSpc>
                <a:spcPts val="47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163270" y="9492615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52400" y="152400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342650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426506" y="0"/>
                </a:lnTo>
                <a:lnTo>
                  <a:pt x="342650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027" y="6259032"/>
            <a:ext cx="4027968" cy="4027968"/>
          </a:xfrm>
          <a:custGeom>
            <a:avLst/>
            <a:gdLst/>
            <a:ahLst/>
            <a:cxnLst/>
            <a:rect r="r" b="b" t="t" l="l"/>
            <a:pathLst>
              <a:path h="4027968" w="4027968">
                <a:moveTo>
                  <a:pt x="0" y="0"/>
                </a:moveTo>
                <a:lnTo>
                  <a:pt x="4027968" y="0"/>
                </a:lnTo>
                <a:lnTo>
                  <a:pt x="4027968" y="4027968"/>
                </a:lnTo>
                <a:lnTo>
                  <a:pt x="0" y="402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1576" y="152400"/>
            <a:ext cx="3816424" cy="3018445"/>
          </a:xfrm>
          <a:custGeom>
            <a:avLst/>
            <a:gdLst/>
            <a:ahLst/>
            <a:cxnLst/>
            <a:rect r="r" b="b" t="t" l="l"/>
            <a:pathLst>
              <a:path h="3018445" w="3816424">
                <a:moveTo>
                  <a:pt x="0" y="0"/>
                </a:moveTo>
                <a:lnTo>
                  <a:pt x="3816424" y="0"/>
                </a:lnTo>
                <a:lnTo>
                  <a:pt x="3816424" y="3018445"/>
                </a:lnTo>
                <a:lnTo>
                  <a:pt x="0" y="3018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42000" y="3170845"/>
            <a:ext cx="3220852" cy="6356958"/>
          </a:xfrm>
          <a:custGeom>
            <a:avLst/>
            <a:gdLst/>
            <a:ahLst/>
            <a:cxnLst/>
            <a:rect r="r" b="b" t="t" l="l"/>
            <a:pathLst>
              <a:path h="6356958" w="3220852">
                <a:moveTo>
                  <a:pt x="0" y="0"/>
                </a:moveTo>
                <a:lnTo>
                  <a:pt x="3220852" y="0"/>
                </a:lnTo>
                <a:lnTo>
                  <a:pt x="322085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4" r="0" b="-16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43000"/>
            <a:ext cx="16846104" cy="200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A LACK OF REAL-TIME, PROACTIVE INTERVENTION IN HARDWARE PROTOTYPING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5930" y="3422551"/>
            <a:ext cx="10248874" cy="657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85"/>
              </a:lnSpc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How it Works: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See: Multimodal Vision identifies components &amp; wiring.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Verify: RAG-based Research queries the datasheet for pinouts &amp; voltage limits.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Act: Pr</a:t>
            </a: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oactive alerts via WhatsApp/Telegram if a safety violation is detected.</a:t>
            </a:r>
          </a:p>
          <a:p>
            <a:pPr algn="just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Value Prop: Reduces hardware "burn" rate by 90% and speeds up prototyping by automating pinout validation.</a:t>
            </a:r>
          </a:p>
          <a:p>
            <a:pPr algn="just">
              <a:lnSpc>
                <a:spcPts val="47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062852" y="9671586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0">
            <a:off x="152400" y="152400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342650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426506" y="0"/>
                </a:lnTo>
                <a:lnTo>
                  <a:pt x="342650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027" y="6259032"/>
            <a:ext cx="4027968" cy="4027968"/>
          </a:xfrm>
          <a:custGeom>
            <a:avLst/>
            <a:gdLst/>
            <a:ahLst/>
            <a:cxnLst/>
            <a:rect r="r" b="b" t="t" l="l"/>
            <a:pathLst>
              <a:path h="4027968" w="4027968">
                <a:moveTo>
                  <a:pt x="0" y="0"/>
                </a:moveTo>
                <a:lnTo>
                  <a:pt x="4027968" y="0"/>
                </a:lnTo>
                <a:lnTo>
                  <a:pt x="4027968" y="4027968"/>
                </a:lnTo>
                <a:lnTo>
                  <a:pt x="0" y="402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1576" y="152400"/>
            <a:ext cx="3816424" cy="3018445"/>
          </a:xfrm>
          <a:custGeom>
            <a:avLst/>
            <a:gdLst/>
            <a:ahLst/>
            <a:cxnLst/>
            <a:rect r="r" b="b" t="t" l="l"/>
            <a:pathLst>
              <a:path h="3018445" w="3816424">
                <a:moveTo>
                  <a:pt x="0" y="0"/>
                </a:moveTo>
                <a:lnTo>
                  <a:pt x="3816424" y="0"/>
                </a:lnTo>
                <a:lnTo>
                  <a:pt x="3816424" y="3018445"/>
                </a:lnTo>
                <a:lnTo>
                  <a:pt x="0" y="3018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53906" y="1354762"/>
            <a:ext cx="8947367" cy="1028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DETAILED PIPELINE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9477" y="2693254"/>
            <a:ext cx="13051528" cy="6411563"/>
          </a:xfrm>
          <a:custGeom>
            <a:avLst/>
            <a:gdLst/>
            <a:ahLst/>
            <a:cxnLst/>
            <a:rect r="r" b="b" t="t" l="l"/>
            <a:pathLst>
              <a:path h="6411563" w="13051528">
                <a:moveTo>
                  <a:pt x="0" y="0"/>
                </a:moveTo>
                <a:lnTo>
                  <a:pt x="13051528" y="0"/>
                </a:lnTo>
                <a:lnTo>
                  <a:pt x="13051528" y="6411564"/>
                </a:lnTo>
                <a:lnTo>
                  <a:pt x="0" y="64115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44511" y="9381043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" y="0"/>
            <a:ext cx="18211800" cy="10287000"/>
            <a:chOff x="0" y="0"/>
            <a:chExt cx="47965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652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796524">
                  <a:moveTo>
                    <a:pt x="0" y="0"/>
                  </a:moveTo>
                  <a:lnTo>
                    <a:pt x="4796524" y="0"/>
                  </a:lnTo>
                  <a:lnTo>
                    <a:pt x="479652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652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29541" y="2050551"/>
            <a:ext cx="9981525" cy="657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The Tank : Local Python environment running FastAPI.</a:t>
            </a:r>
          </a:p>
          <a:p>
            <a:pPr algn="l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Vision Engine: Moondream2 or LLaVA-v1.5 (Local VLM) for object/wire detection.</a:t>
            </a:r>
          </a:p>
          <a:p>
            <a:pPr algn="l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Cognitive RAM: ChromaDB vector store containing indexed PDF datasheets.</a:t>
            </a:r>
          </a:p>
          <a:p>
            <a:pPr algn="l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OpenClaw Integration: * SOUL.md: Meticulous, safety-first engineering personality.</a:t>
            </a:r>
          </a:p>
          <a:p>
            <a:pPr algn="l" marL="712470" indent="-356235" lvl="1">
              <a:lnSpc>
                <a:spcPts val="4785"/>
              </a:lnSpc>
              <a:buFont typeface="Arial"/>
              <a:buChar char="•"/>
            </a:pPr>
            <a:r>
              <a:rPr lang="en-US" sz="330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HEARTBEAT.md: Proactive loop checking the "Camera Feed" against "Safe State."</a:t>
            </a:r>
          </a:p>
          <a:p>
            <a:pPr algn="l">
              <a:lnSpc>
                <a:spcPts val="478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815795" y="8622801"/>
            <a:ext cx="6609017" cy="961312"/>
          </a:xfrm>
          <a:custGeom>
            <a:avLst/>
            <a:gdLst/>
            <a:ahLst/>
            <a:cxnLst/>
            <a:rect r="r" b="b" t="t" l="l"/>
            <a:pathLst>
              <a:path h="961312" w="6609017">
                <a:moveTo>
                  <a:pt x="0" y="0"/>
                </a:moveTo>
                <a:lnTo>
                  <a:pt x="6609017" y="0"/>
                </a:lnTo>
                <a:lnTo>
                  <a:pt x="6609017" y="961312"/>
                </a:lnTo>
                <a:lnTo>
                  <a:pt x="0" y="961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24150"/>
            <a:ext cx="5126734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BUILT ON</a:t>
            </a:r>
          </a:p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OPENCLAW "LOBSTER WAY."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1370" y="9546013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1" y="0"/>
            <a:ext cx="18288871" cy="10287000"/>
            <a:chOff x="0" y="0"/>
            <a:chExt cx="481682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82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822">
                  <a:moveTo>
                    <a:pt x="0" y="0"/>
                  </a:moveTo>
                  <a:lnTo>
                    <a:pt x="4816822" y="0"/>
                  </a:lnTo>
                  <a:lnTo>
                    <a:pt x="481682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82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55854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2478" y="2847525"/>
            <a:ext cx="11795652" cy="641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319" indent="-382160" lvl="1">
              <a:lnSpc>
                <a:spcPts val="5133"/>
              </a:lnSpc>
              <a:buFont typeface="Arial"/>
              <a:buChar char="•"/>
            </a:pPr>
            <a:r>
              <a:rPr lang="en-US" sz="354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Step 1: User uploads the datasheet of a new sensor/MCU.</a:t>
            </a:r>
          </a:p>
          <a:p>
            <a:pPr algn="l" marL="764319" indent="-382160" lvl="1">
              <a:lnSpc>
                <a:spcPts val="5133"/>
              </a:lnSpc>
              <a:buFont typeface="Arial"/>
              <a:buChar char="•"/>
            </a:pPr>
            <a:r>
              <a:rPr lang="en-US" sz="354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Step 2: User points their smartphone/webcam at the breadboard.</a:t>
            </a:r>
          </a:p>
          <a:p>
            <a:pPr algn="l" marL="764319" indent="-382160" lvl="1">
              <a:lnSpc>
                <a:spcPts val="5133"/>
              </a:lnSpc>
              <a:buFont typeface="Arial"/>
              <a:buChar char="•"/>
            </a:pPr>
            <a:r>
              <a:rPr lang="en-US" sz="354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Step 3: The Agent identifies the chip and says: "I see you're using an ESP32. I've mapped the pins."</a:t>
            </a:r>
          </a:p>
          <a:p>
            <a:pPr algn="l" marL="764319" indent="-382160" lvl="1">
              <a:lnSpc>
                <a:spcPts val="5133"/>
              </a:lnSpc>
              <a:buFont typeface="Arial"/>
              <a:buChar char="•"/>
            </a:pPr>
            <a:r>
              <a:rPr lang="en-US" sz="3540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Step 4 : User moves a wire to a 5V rail. Agent sends a Telegram alert: "STOP! Pin 12 is 3.3V tolerant only. Connection at 5V detected."</a:t>
            </a:r>
          </a:p>
          <a:p>
            <a:pPr algn="l">
              <a:lnSpc>
                <a:spcPts val="513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166660" y="1460644"/>
            <a:ext cx="1167617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BASIC 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62835" y="9077642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" y="152400"/>
            <a:ext cx="18135600" cy="10134600"/>
            <a:chOff x="0" y="0"/>
            <a:chExt cx="4776454" cy="2669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76454" cy="2669195"/>
            </a:xfrm>
            <a:custGeom>
              <a:avLst/>
              <a:gdLst/>
              <a:ahLst/>
              <a:cxnLst/>
              <a:rect r="r" b="b" t="t" l="l"/>
              <a:pathLst>
                <a:path h="2669195" w="4776454">
                  <a:moveTo>
                    <a:pt x="0" y="0"/>
                  </a:moveTo>
                  <a:lnTo>
                    <a:pt x="4776454" y="0"/>
                  </a:lnTo>
                  <a:lnTo>
                    <a:pt x="4776454" y="2669195"/>
                  </a:lnTo>
                  <a:lnTo>
                    <a:pt x="0" y="2669195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76454" cy="2707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12550" y="1170749"/>
            <a:ext cx="4091451" cy="1435037"/>
          </a:xfrm>
          <a:custGeom>
            <a:avLst/>
            <a:gdLst/>
            <a:ahLst/>
            <a:cxnLst/>
            <a:rect r="r" b="b" t="t" l="l"/>
            <a:pathLst>
              <a:path h="1435037" w="4091451">
                <a:moveTo>
                  <a:pt x="0" y="0"/>
                </a:moveTo>
                <a:lnTo>
                  <a:pt x="4091451" y="0"/>
                </a:lnTo>
                <a:lnTo>
                  <a:pt x="4091451" y="1435038"/>
                </a:lnTo>
                <a:lnTo>
                  <a:pt x="0" y="14350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48673" y="1577087"/>
            <a:ext cx="1297542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500" spc="1207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DEVELOPMENT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3630" y="3782330"/>
            <a:ext cx="11299567" cy="430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929"/>
              </a:lnSpc>
              <a:buFont typeface="Arial"/>
              <a:buChar char="•"/>
            </a:pPr>
            <a:r>
              <a:rPr lang="en-US" sz="33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Week 1 (Current - May 1): PDF Parsing engine + basic Component Recognition (ESP32/Arduino).</a:t>
            </a:r>
          </a:p>
          <a:p>
            <a:pPr algn="l" marL="734059" indent="-367030" lvl="1">
              <a:lnSpc>
                <a:spcPts val="4929"/>
              </a:lnSpc>
              <a:buFont typeface="Arial"/>
              <a:buChar char="•"/>
            </a:pPr>
            <a:r>
              <a:rPr lang="en-US" sz="33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Week 2 (May 2 - May 5): Integrating RAG with Vision outputs; establishing the OpenClaw logic loop.</a:t>
            </a:r>
          </a:p>
          <a:p>
            <a:pPr algn="l" marL="734059" indent="-367030" lvl="1">
              <a:lnSpc>
                <a:spcPts val="4929"/>
              </a:lnSpc>
              <a:buFont typeface="Arial"/>
              <a:buChar char="•"/>
            </a:pPr>
            <a:r>
              <a:rPr lang="en-US" sz="33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Week 3 (May 6 - May 8): Edge-case testing, UI polish, and recording the 10-minute demo video.</a:t>
            </a:r>
          </a:p>
          <a:p>
            <a:pPr algn="l">
              <a:lnSpc>
                <a:spcPts val="492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63270" y="8935085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" y="152400"/>
            <a:ext cx="18135600" cy="10134600"/>
            <a:chOff x="0" y="0"/>
            <a:chExt cx="4776454" cy="26691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76454" cy="2669195"/>
            </a:xfrm>
            <a:custGeom>
              <a:avLst/>
              <a:gdLst/>
              <a:ahLst/>
              <a:cxnLst/>
              <a:rect r="r" b="b" t="t" l="l"/>
              <a:pathLst>
                <a:path h="2669195" w="4776454">
                  <a:moveTo>
                    <a:pt x="0" y="0"/>
                  </a:moveTo>
                  <a:lnTo>
                    <a:pt x="4776454" y="0"/>
                  </a:lnTo>
                  <a:lnTo>
                    <a:pt x="4776454" y="2669195"/>
                  </a:lnTo>
                  <a:lnTo>
                    <a:pt x="0" y="2669195"/>
                  </a:lnTo>
                  <a:close/>
                </a:path>
              </a:pathLst>
            </a:custGeom>
            <a:solidFill>
              <a:srgbClr val="0A23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76454" cy="2707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2245728" y="4544984"/>
            <a:ext cx="8229600" cy="1197033"/>
          </a:xfrm>
          <a:custGeom>
            <a:avLst/>
            <a:gdLst/>
            <a:ahLst/>
            <a:cxnLst/>
            <a:rect r="r" b="b" t="t" l="l"/>
            <a:pathLst>
              <a:path h="1197033" w="8229600">
                <a:moveTo>
                  <a:pt x="0" y="0"/>
                </a:moveTo>
                <a:lnTo>
                  <a:pt x="8229600" y="0"/>
                </a:lnTo>
                <a:lnTo>
                  <a:pt x="8229600" y="1197032"/>
                </a:lnTo>
                <a:lnTo>
                  <a:pt x="0" y="1197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89649" y="3164332"/>
            <a:ext cx="5602914" cy="412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712"/>
              </a:lnSpc>
            </a:pPr>
            <a:r>
              <a:rPr lang="en-US" sz="10400" spc="1674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IMPACT</a:t>
            </a:r>
          </a:p>
          <a:p>
            <a:pPr algn="r">
              <a:lnSpc>
                <a:spcPts val="10712"/>
              </a:lnSpc>
            </a:pPr>
            <a:r>
              <a:rPr lang="en-US" sz="10400" spc="1674">
                <a:solidFill>
                  <a:srgbClr val="ECC848"/>
                </a:solidFill>
                <a:latin typeface="League Gothic"/>
                <a:ea typeface="League Gothic"/>
                <a:cs typeface="League Gothic"/>
                <a:sym typeface="League Gothic"/>
              </a:rPr>
              <a:t>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2360" y="2273746"/>
            <a:ext cx="7847840" cy="634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074"/>
              </a:lnSpc>
              <a:buFont typeface="Arial"/>
              <a:buChar char="•"/>
            </a:pPr>
            <a:r>
              <a:rPr lang="en-US" sz="34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Impact: Democratizes embedded engineering for beginners and prevents expensive hardware loss for pros.</a:t>
            </a:r>
          </a:p>
          <a:p>
            <a:pPr algn="l" marL="755649" indent="-377824" lvl="1">
              <a:lnSpc>
                <a:spcPts val="5074"/>
              </a:lnSpc>
              <a:buFont typeface="Arial"/>
              <a:buChar char="•"/>
            </a:pPr>
            <a:r>
              <a:rPr lang="en-US" sz="34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Future Scope: * Auto-generation of Schematics from breadboard photos.</a:t>
            </a:r>
          </a:p>
          <a:p>
            <a:pPr algn="l" marL="755649" indent="-377824" lvl="1">
              <a:lnSpc>
                <a:spcPts val="5074"/>
              </a:lnSpc>
              <a:buFont typeface="Arial"/>
              <a:buChar char="•"/>
            </a:pPr>
            <a:r>
              <a:rPr lang="en-US" sz="3499">
                <a:solidFill>
                  <a:srgbClr val="ECC848"/>
                </a:solidFill>
                <a:latin typeface="Lustria"/>
                <a:ea typeface="Lustria"/>
                <a:cs typeface="Lustria"/>
                <a:sym typeface="Lustria"/>
              </a:rPr>
              <a:t>Integration with Oscilloscopes for real-time signal debugging.</a:t>
            </a:r>
          </a:p>
          <a:p>
            <a:pPr algn="l">
              <a:lnSpc>
                <a:spcPts val="50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239470" y="9220200"/>
            <a:ext cx="596145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CC848"/>
                </a:solidFill>
                <a:latin typeface="Canva Sans"/>
                <a:ea typeface="Canva Sans"/>
                <a:cs typeface="Canva Sans"/>
                <a:sym typeface="Canva Sans"/>
              </a:rPr>
              <a:t>Building the future of hardware, without the smoke.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DAHHmiGW4X4</dc:identifier>
  <dcterms:modified xsi:type="dcterms:W3CDTF">2011-08-01T06:04:30Z</dcterms:modified>
  <cp:revision>1</cp:revision>
  <dc:title>ir</dc:title>
</cp:coreProperties>
</file>